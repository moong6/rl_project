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3"/>
  </p:sldMasterIdLst>
  <p:notesMasterIdLst>
    <p:notesMasterId r:id="rId19"/>
  </p:notesMasterIdLst>
  <p:sldIdLst>
    <p:sldId id="964" r:id="rId4"/>
    <p:sldId id="339" r:id="rId5"/>
    <p:sldId id="1114" r:id="rId6"/>
    <p:sldId id="1154" r:id="rId7"/>
    <p:sldId id="972" r:id="rId8"/>
    <p:sldId id="1155" r:id="rId9"/>
    <p:sldId id="1157" r:id="rId10"/>
    <p:sldId id="1158" r:id="rId11"/>
    <p:sldId id="1159" r:id="rId12"/>
    <p:sldId id="1164" r:id="rId13"/>
    <p:sldId id="1160" r:id="rId14"/>
    <p:sldId id="1161" r:id="rId15"/>
    <p:sldId id="1162" r:id="rId16"/>
    <p:sldId id="1163" r:id="rId17"/>
    <p:sldId id="1053" r:id="rId18"/>
  </p:sldIdLst>
  <p:sldSz cx="9906000" cy="6858000" type="A4"/>
  <p:notesSz cx="6858000" cy="9144000"/>
  <p:embeddedFontLst>
    <p:embeddedFont>
      <p:font typeface="KoPub돋움체 Medium" panose="00000600000000000000" pitchFamily="2" charset="-127"/>
      <p:regular r:id="rId20"/>
    </p:embeddedFont>
    <p:embeddedFont>
      <p:font typeface="KoPub바탕체 Bold" panose="00000800000000000000" pitchFamily="2" charset="-127"/>
      <p:bold r:id="rId21"/>
    </p:embeddedFont>
    <p:embeddedFont>
      <p:font typeface="KoPub바탕체 Medium" panose="00000600000000000000" pitchFamily="2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KoPub돋움체 Bold" panose="00000800000000000000" pitchFamily="2" charset="-127"/>
      <p:bold r:id="rId25"/>
    </p:embeddedFont>
    <p:embeddedFont>
      <p:font typeface="HY견고딕" panose="02030600000101010101" pitchFamily="18" charset="-127"/>
      <p:regular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42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  <p15:guide id="5" orient="horz" pos="1525" userDrawn="1">
          <p15:clr>
            <a:srgbClr val="A4A3A4"/>
          </p15:clr>
        </p15:guide>
        <p15:guide id="7" pos="285" userDrawn="1">
          <p15:clr>
            <a:srgbClr val="A4A3A4"/>
          </p15:clr>
        </p15:guide>
        <p15:guide id="8" pos="6023" userDrawn="1">
          <p15:clr>
            <a:srgbClr val="A4A3A4"/>
          </p15:clr>
        </p15:guide>
        <p15:guide id="9" orient="horz" pos="2047" userDrawn="1">
          <p15:clr>
            <a:srgbClr val="A4A3A4"/>
          </p15:clr>
        </p15:guide>
        <p15:guide id="10" orient="horz" pos="3249" userDrawn="1">
          <p15:clr>
            <a:srgbClr val="A4A3A4"/>
          </p15:clr>
        </p15:guide>
        <p15:guide id="11" orient="horz" pos="2523" userDrawn="1">
          <p15:clr>
            <a:srgbClr val="A4A3A4"/>
          </p15:clr>
        </p15:guide>
        <p15:guide id="12" orient="horz" pos="2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5F5"/>
    <a:srgbClr val="AAAAAA"/>
    <a:srgbClr val="9B9B9B"/>
    <a:srgbClr val="333F50"/>
    <a:srgbClr val="FFFFFF"/>
    <a:srgbClr val="D3D0FF"/>
    <a:srgbClr val="70AD47"/>
    <a:srgbClr val="FFC000"/>
    <a:srgbClr val="4472C4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41" autoAdjust="0"/>
    <p:restoredTop sz="93378" autoAdjust="0"/>
  </p:normalViewPr>
  <p:slideViewPr>
    <p:cSldViewPr snapToGrid="0" showGuides="1">
      <p:cViewPr varScale="1">
        <p:scale>
          <a:sx n="107" d="100"/>
          <a:sy n="107" d="100"/>
        </p:scale>
        <p:origin x="1260" y="114"/>
      </p:cViewPr>
      <p:guideLst>
        <p:guide pos="3642"/>
        <p:guide orient="horz" pos="981"/>
        <p:guide orient="horz" pos="1525"/>
        <p:guide pos="285"/>
        <p:guide pos="6023"/>
        <p:guide orient="horz" pos="2047"/>
        <p:guide orient="horz" pos="3249"/>
        <p:guide orient="horz" pos="2523"/>
        <p:guide orient="horz" pos="2659"/>
      </p:guideLst>
    </p:cSldViewPr>
  </p:slideViewPr>
  <p:outlineViewPr>
    <p:cViewPr>
      <p:scale>
        <a:sx n="33" d="100"/>
        <a:sy n="33" d="100"/>
      </p:scale>
      <p:origin x="0" y="-534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50" d="100"/>
        <a:sy n="150" d="100"/>
      </p:scale>
      <p:origin x="0" y="-3018"/>
    </p:cViewPr>
  </p:sorterViewPr>
  <p:notesViewPr>
    <p:cSldViewPr snapToGrid="0">
      <p:cViewPr varScale="1">
        <p:scale>
          <a:sx n="79" d="100"/>
          <a:sy n="79" d="100"/>
        </p:scale>
        <p:origin x="3189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1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C2CF2790-36C3-4058-99BA-437BEEC82D97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51FA25B-5CD1-4D7F-B684-21BE90FEE3E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584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3554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FB3A-8DEC-B692-242D-E5FBACAB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9EF496-8574-B620-76B1-436776EC8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24939A-7401-18CF-C810-868B5E6FB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BD5674-7111-6FD1-0688-F4D128E130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853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8B026-BD67-5FCA-1898-45A84AAA3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1334C1-010F-993B-7971-705B43B5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AB0640-B9CD-E6FB-D25E-A4BB25C1D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25B582-E7B9-EEE9-252E-2A6A968FA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818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808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86B49-E853-A40A-D1AC-086DC973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5347DC-FE80-B559-35C9-6B878A2E4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B9F274-105E-EA7F-4556-8D996CC54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BE425-0D66-CC32-74F8-D07A290C8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69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62923-C088-91BC-3740-BF4B6CB3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CD1062-47C2-7539-390A-20A08D8DC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6936D0-8A4B-5914-2C25-81814E8CD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23D6C6-A085-0A5A-25AE-C256BCE219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400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7CDE-1219-5495-C065-D887E4D8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FF9BA3-73BC-C112-F498-556970F7A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F2389B-6231-95BB-011D-C6CD8EFFE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841117-8092-41AA-2070-3C420EBD2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555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4510-DA0D-5D8B-A97B-C0C09951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9FA04B-61B8-67DB-AF84-859C8D3D9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E35426-C459-55B8-0A8C-B504E7412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56CAE-72F7-EE94-B48E-98FED74E3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7372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A779-930D-126F-BD1B-2575C3D5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D768CF-0CC3-3A8A-7008-64EBC8170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C9933B-200B-CB3F-88CB-F4880DCB1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1901AB-F331-38C4-1131-42A9FCAF5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959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1895-9B03-6372-B25D-ACA767A3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8F696C-909C-00E5-B4A4-620A34B81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5D0E63-5BAA-DAB9-7408-6B429FB3C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AA560-BDA1-85DF-8AD7-AF720935D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438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48E5-8C13-D237-B7CC-1DFBF6DE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320386-3997-4956-F8C3-F4228FCB9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8F5A3B-71D6-E867-8392-4D7D093D8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BB158A-927F-D1C0-2C99-076F34F40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920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3651-B80C-79BB-C78F-8BD847F2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5D3415-091E-8545-172F-7F3848359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CCDAC4-0082-1323-9AAE-994C31A33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DC57F-F272-A593-CC36-50B88187E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22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13B71-FDE7-83B0-1044-4E0BBB5A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DA9BD-1555-6070-1FC9-C0118AC87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978D40-80AB-D177-D6EF-FCBCA1EDD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10569C-EE12-9056-8963-E56402118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135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gw.sweduhub.or.kr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4655542" y="6527240"/>
            <a:ext cx="594914" cy="327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212190-00C3-46F0-A99A-93B4F6B82538}" type="slidenum">
              <a:rPr lang="ko-KR" altLang="en-US" smtClean="0">
                <a:solidFill>
                  <a:prstClr val="black">
                    <a:tint val="7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0" y="-104"/>
            <a:ext cx="9906000" cy="76047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31F459-6646-4CE8-8DBF-8083AECAF61E}"/>
              </a:ext>
            </a:extLst>
          </p:cNvPr>
          <p:cNvSpPr/>
          <p:nvPr userDrawn="1"/>
        </p:nvSpPr>
        <p:spPr>
          <a:xfrm>
            <a:off x="-1" y="717367"/>
            <a:ext cx="9907200" cy="8600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626" y="160720"/>
            <a:ext cx="7332917" cy="502218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US" sz="2200" kern="1200" spc="-80" baseline="0" dirty="0">
                <a:ln w="12700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75E7818-A976-482B-8590-6E43FCC160C9}"/>
              </a:ext>
            </a:extLst>
          </p:cNvPr>
          <p:cNvCxnSpPr>
            <a:cxnSpLocks/>
          </p:cNvCxnSpPr>
          <p:nvPr userDrawn="1"/>
        </p:nvCxnSpPr>
        <p:spPr>
          <a:xfrm>
            <a:off x="273050" y="6493791"/>
            <a:ext cx="9359900" cy="0"/>
          </a:xfrm>
          <a:prstGeom prst="line">
            <a:avLst/>
          </a:prstGeom>
          <a:noFill/>
          <a:ln w="19050" cap="flat" cmpd="sng" algn="ctr">
            <a:solidFill>
              <a:schemeClr val="tx2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B032B02-47C3-4168-A4D4-3FB8F99E3363}"/>
              </a:ext>
            </a:extLst>
          </p:cNvPr>
          <p:cNvSpPr txBox="1"/>
          <p:nvPr userDrawn="1"/>
        </p:nvSpPr>
        <p:spPr>
          <a:xfrm>
            <a:off x="292732" y="6605896"/>
            <a:ext cx="74058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/>
            <a:r>
              <a:rPr lang="ko-KR" altLang="en-US" sz="900" dirty="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강화학습의 기초</a:t>
            </a:r>
          </a:p>
        </p:txBody>
      </p:sp>
      <p:pic>
        <p:nvPicPr>
          <p:cNvPr id="21" name="Picture 2">
            <a:hlinkClick r:id="rId2"/>
            <a:extLst>
              <a:ext uri="{FF2B5EF4-FFF2-40B4-BE49-F238E27FC236}">
                <a16:creationId xmlns:a16="http://schemas.microsoft.com/office/drawing/2014/main" id="{F1E2AF34-7A00-4158-BF3E-7A79E06D14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4876" y="6542408"/>
            <a:ext cx="1725874" cy="2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94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172">
          <p15:clr>
            <a:srgbClr val="FBAE40"/>
          </p15:clr>
        </p15:guide>
        <p15:guide id="3" pos="6068">
          <p15:clr>
            <a:srgbClr val="FBAE40"/>
          </p15:clr>
        </p15:guide>
        <p15:guide id="4" orient="horz" pos="686">
          <p15:clr>
            <a:srgbClr val="FBAE40"/>
          </p15:clr>
        </p15:guide>
        <p15:guide id="5" orient="horz" pos="226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BFAC-5339-43C3-A39F-2C9CA63405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C8F5E-4F2C-4EAD-BB2B-283E837E3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80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C478BFAC-5339-43C3-A39F-2C9CA634052D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E7CC8F5E-4F2C-4EAD-BB2B-283E837E3DC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52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Bold" panose="000008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gw.sweduhub.or.k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oong6/RL_Project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gw.sweduhub.or.kr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A3455E-3061-4EF9-90C7-073CDDA0B1F9}"/>
              </a:ext>
            </a:extLst>
          </p:cNvPr>
          <p:cNvSpPr/>
          <p:nvPr/>
        </p:nvSpPr>
        <p:spPr>
          <a:xfrm>
            <a:off x="-6478" y="0"/>
            <a:ext cx="9912478" cy="2307085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5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389D167-BC0E-4E4D-A401-690BC65F8962}"/>
              </a:ext>
            </a:extLst>
          </p:cNvPr>
          <p:cNvSpPr/>
          <p:nvPr/>
        </p:nvSpPr>
        <p:spPr>
          <a:xfrm>
            <a:off x="-6350" y="2294389"/>
            <a:ext cx="9912350" cy="135377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5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93DFCD-F498-45FD-971C-BF3DEC02A9EB}"/>
              </a:ext>
            </a:extLst>
          </p:cNvPr>
          <p:cNvSpPr txBox="1"/>
          <p:nvPr/>
        </p:nvSpPr>
        <p:spPr>
          <a:xfrm>
            <a:off x="4021020" y="6212085"/>
            <a:ext cx="1863960" cy="3205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2025.12.7.</a:t>
            </a:r>
            <a:endParaRPr lang="ko-KR" altLang="en-US" sz="20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B00874-83BF-4910-A9B8-937332C26836}"/>
              </a:ext>
            </a:extLst>
          </p:cNvPr>
          <p:cNvSpPr txBox="1"/>
          <p:nvPr/>
        </p:nvSpPr>
        <p:spPr>
          <a:xfrm>
            <a:off x="713772" y="2678113"/>
            <a:ext cx="8478456" cy="1087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『 </a:t>
            </a:r>
            <a:r>
              <a:rPr lang="ko-KR" altLang="en-US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불확실한 수요 환경에서의 적응형 재고 관리</a:t>
            </a:r>
            <a:r>
              <a:rPr lang="en-US" altLang="ko-KR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</a:t>
            </a:r>
            <a:br>
              <a:rPr lang="en-US" altLang="ko-KR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Deep Q-Network </a:t>
            </a:r>
            <a:r>
              <a:rPr lang="ko-KR" altLang="en-US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접근</a:t>
            </a:r>
            <a:r>
              <a:rPr lang="en-US" altLang="ko-KR" sz="28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』</a:t>
            </a:r>
            <a:endParaRPr lang="ko-KR" altLang="en-US" sz="28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18FF9-D4B4-5BF5-D97D-96E3DE8E6AFA}"/>
              </a:ext>
            </a:extLst>
          </p:cNvPr>
          <p:cNvSpPr txBox="1"/>
          <p:nvPr/>
        </p:nvSpPr>
        <p:spPr>
          <a:xfrm>
            <a:off x="713772" y="892331"/>
            <a:ext cx="8478456" cy="1016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2025</a:t>
            </a:r>
            <a:r>
              <a:rPr lang="ko-KR" altLang="en-US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년도 </a:t>
            </a:r>
            <a:r>
              <a:rPr lang="en-US" altLang="ko-KR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2</a:t>
            </a:r>
            <a:r>
              <a:rPr lang="ko-KR" altLang="en-US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학기 서강대학교 </a:t>
            </a:r>
            <a:r>
              <a:rPr lang="en-US" altLang="ko-KR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AI·SW</a:t>
            </a:r>
            <a:r>
              <a:rPr lang="ko-KR" altLang="en-US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대학원</a:t>
            </a:r>
            <a:endParaRPr lang="en-US" altLang="ko-KR" sz="2000" dirty="0">
              <a:solidFill>
                <a:srgbClr val="FFC000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3000" dirty="0">
                <a:solidFill>
                  <a:schemeClr val="bg1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강화학습의 기초</a:t>
            </a:r>
          </a:p>
        </p:txBody>
      </p:sp>
      <p:pic>
        <p:nvPicPr>
          <p:cNvPr id="5" name="Picture 2">
            <a:hlinkClick r:id="rId3"/>
            <a:extLst>
              <a:ext uri="{FF2B5EF4-FFF2-40B4-BE49-F238E27FC236}">
                <a16:creationId xmlns:a16="http://schemas.microsoft.com/office/drawing/2014/main" id="{E0181C0D-84DF-BA45-A38D-FC86BA872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68975" y="6466208"/>
            <a:ext cx="1950227" cy="32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A53B35-516C-6A56-F6D4-34AA7056508D}"/>
              </a:ext>
            </a:extLst>
          </p:cNvPr>
          <p:cNvSpPr txBox="1"/>
          <p:nvPr/>
        </p:nvSpPr>
        <p:spPr>
          <a:xfrm>
            <a:off x="8536781" y="5324022"/>
            <a:ext cx="2189163" cy="7599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400" dirty="0" err="1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팀명</a:t>
            </a: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Q-Pang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A71035 </a:t>
            </a:r>
            <a:r>
              <a:rPr lang="ko-KR" altLang="en-US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어준성</a:t>
            </a:r>
            <a:endParaRPr lang="en-US" altLang="ko-KR" sz="1400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A72063 </a:t>
            </a:r>
            <a:r>
              <a:rPr lang="ko-KR" altLang="en-US" sz="1400" dirty="0" err="1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유문식</a:t>
            </a:r>
            <a:endParaRPr lang="en-US" altLang="ko-KR" sz="1400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122C82B-E8C1-46E5-17E9-DEC02AE47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973" y="3841075"/>
            <a:ext cx="3917576" cy="2070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842339-4710-D097-EF76-4B2BEA9F58ED}"/>
              </a:ext>
            </a:extLst>
          </p:cNvPr>
          <p:cNvSpPr txBox="1"/>
          <p:nvPr/>
        </p:nvSpPr>
        <p:spPr>
          <a:xfrm>
            <a:off x="6498567" y="6125760"/>
            <a:ext cx="3226278" cy="242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hlinkClick r:id="rId6"/>
              </a:rPr>
              <a:t>https://github.com/Moong6/RL_Project</a:t>
            </a:r>
            <a:endParaRPr lang="en-US" altLang="ko-KR" sz="1400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7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0CD4E9C-8C26-5AF4-5973-BA634A9D07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r="9882"/>
          <a:stretch/>
        </p:blipFill>
        <p:spPr>
          <a:xfrm>
            <a:off x="6793342" y="4087179"/>
            <a:ext cx="3015725" cy="25050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24DE065-4242-49C8-A1D0-358D30461810}"/>
              </a:ext>
            </a:extLst>
          </p:cNvPr>
          <p:cNvSpPr/>
          <p:nvPr/>
        </p:nvSpPr>
        <p:spPr>
          <a:xfrm>
            <a:off x="0" y="1"/>
            <a:ext cx="9906000" cy="1800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3C1BA-31AD-4D1E-A0B3-631C9F28548A}"/>
              </a:ext>
            </a:extLst>
          </p:cNvPr>
          <p:cNvSpPr txBox="1"/>
          <p:nvPr/>
        </p:nvSpPr>
        <p:spPr>
          <a:xfrm>
            <a:off x="623766" y="966366"/>
            <a:ext cx="245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 latinLnBrk="0"/>
            <a:r>
              <a:rPr lang="ko-KR" altLang="en-US" sz="2400" b="1" dirty="0">
                <a:ln w="3175">
                  <a:noFill/>
                </a:ln>
                <a:solidFill>
                  <a:schemeClr val="accent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55E74-6D2D-47F8-89FF-4DA9E532F511}"/>
              </a:ext>
            </a:extLst>
          </p:cNvPr>
          <p:cNvSpPr txBox="1"/>
          <p:nvPr/>
        </p:nvSpPr>
        <p:spPr>
          <a:xfrm>
            <a:off x="637973" y="632060"/>
            <a:ext cx="2439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Noto Sans CJK KR Thin" panose="020B0200000000000000" pitchFamily="34" charset="-127"/>
                <a:ea typeface="Noto Sans CJK KR Thin" panose="020B0200000000000000" pitchFamily="34" charset="-127"/>
              </a:defRPr>
            </a:lvl1pPr>
          </a:lstStyle>
          <a:p>
            <a:pPr algn="dist" defTabSz="457200" latinLnBrk="0"/>
            <a:r>
              <a:rPr lang="en-US" altLang="ko-KR" spc="272" dirty="0">
                <a:ln w="3175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CONTENTS</a:t>
            </a:r>
            <a:endParaRPr lang="ko-KR" altLang="en-US" spc="272" dirty="0">
              <a:ln w="3175">
                <a:noFill/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6CFEDAB-829F-42C3-B1CF-01A7EFA38207}"/>
              </a:ext>
            </a:extLst>
          </p:cNvPr>
          <p:cNvSpPr/>
          <p:nvPr/>
        </p:nvSpPr>
        <p:spPr>
          <a:xfrm>
            <a:off x="0" y="1713995"/>
            <a:ext cx="9906000" cy="8600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5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702919"/>
              </p:ext>
            </p:extLst>
          </p:nvPr>
        </p:nvGraphicFramePr>
        <p:xfrm>
          <a:off x="4866676" y="2021372"/>
          <a:ext cx="4609834" cy="3883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252">
                  <a:extLst>
                    <a:ext uri="{9D8B030D-6E8A-4147-A177-3AD203B41FA5}">
                      <a16:colId xmlns:a16="http://schemas.microsoft.com/office/drawing/2014/main" val="3050542484"/>
                    </a:ext>
                  </a:extLst>
                </a:gridCol>
                <a:gridCol w="266723">
                  <a:extLst>
                    <a:ext uri="{9D8B030D-6E8A-4147-A177-3AD203B41FA5}">
                      <a16:colId xmlns:a16="http://schemas.microsoft.com/office/drawing/2014/main" val="1858931786"/>
                    </a:ext>
                  </a:extLst>
                </a:gridCol>
                <a:gridCol w="2137146">
                  <a:extLst>
                    <a:ext uri="{9D8B030D-6E8A-4147-A177-3AD203B41FA5}">
                      <a16:colId xmlns:a16="http://schemas.microsoft.com/office/drawing/2014/main" val="661818988"/>
                    </a:ext>
                  </a:extLst>
                </a:gridCol>
                <a:gridCol w="1315220">
                  <a:extLst>
                    <a:ext uri="{9D8B030D-6E8A-4147-A177-3AD203B41FA5}">
                      <a16:colId xmlns:a16="http://schemas.microsoft.com/office/drawing/2014/main" val="590516169"/>
                    </a:ext>
                  </a:extLst>
                </a:gridCol>
                <a:gridCol w="437493">
                  <a:extLst>
                    <a:ext uri="{9D8B030D-6E8A-4147-A177-3AD203B41FA5}">
                      <a16:colId xmlns:a16="http://schemas.microsoft.com/office/drawing/2014/main" val="221005851"/>
                    </a:ext>
                  </a:extLst>
                </a:gridCol>
              </a:tblGrid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300" b="1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Ⅳ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결론 </a:t>
                      </a:r>
                      <a:r>
                        <a:rPr lang="en-US" altLang="ko-KR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(Conclusion)</a:t>
                      </a:r>
                      <a:endParaRPr lang="ko-KR" altLang="en-US" sz="1300" b="1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3955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프로젝트 요약 및 시사점</a:t>
                      </a: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spc="-8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</a:t>
                      </a:r>
                      <a:endParaRPr lang="ko-KR" altLang="en-US" sz="1300" b="0" spc="-8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189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향후 과제</a:t>
                      </a: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spc="-8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  <a:endParaRPr lang="ko-KR" altLang="en-US" sz="1300" b="0" spc="-8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3661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738449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00162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300" kern="1200" spc="-8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40099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461450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429988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500046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25869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695108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493081"/>
              </p:ext>
            </p:extLst>
          </p:nvPr>
        </p:nvGraphicFramePr>
        <p:xfrm>
          <a:off x="439105" y="2021372"/>
          <a:ext cx="4115565" cy="49630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653">
                  <a:extLst>
                    <a:ext uri="{9D8B030D-6E8A-4147-A177-3AD203B41FA5}">
                      <a16:colId xmlns:a16="http://schemas.microsoft.com/office/drawing/2014/main" val="3050542484"/>
                    </a:ext>
                  </a:extLst>
                </a:gridCol>
                <a:gridCol w="238124">
                  <a:extLst>
                    <a:ext uri="{9D8B030D-6E8A-4147-A177-3AD203B41FA5}">
                      <a16:colId xmlns:a16="http://schemas.microsoft.com/office/drawing/2014/main" val="1858931786"/>
                    </a:ext>
                  </a:extLst>
                </a:gridCol>
                <a:gridCol w="1907999">
                  <a:extLst>
                    <a:ext uri="{9D8B030D-6E8A-4147-A177-3AD203B41FA5}">
                      <a16:colId xmlns:a16="http://schemas.microsoft.com/office/drawing/2014/main" val="661818988"/>
                    </a:ext>
                  </a:extLst>
                </a:gridCol>
                <a:gridCol w="1174202">
                  <a:extLst>
                    <a:ext uri="{9D8B030D-6E8A-4147-A177-3AD203B41FA5}">
                      <a16:colId xmlns:a16="http://schemas.microsoft.com/office/drawing/2014/main" val="590516169"/>
                    </a:ext>
                  </a:extLst>
                </a:gridCol>
                <a:gridCol w="390587">
                  <a:extLst>
                    <a:ext uri="{9D8B030D-6E8A-4147-A177-3AD203B41FA5}">
                      <a16:colId xmlns:a16="http://schemas.microsoft.com/office/drawing/2014/main" val="221005851"/>
                    </a:ext>
                  </a:extLst>
                </a:gridCol>
              </a:tblGrid>
              <a:tr h="36447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Ⅰ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 론 </a:t>
                      </a:r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(Introduction)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248796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프로젝트 주제 및 목표배경 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…………………</a:t>
                      </a:r>
                      <a:endParaRPr lang="ko-KR" altLang="en-US" sz="13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spc="-8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endParaRPr lang="ko-KR" altLang="en-US" sz="1300" b="0" spc="-8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3955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팀원 소개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spc="-8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  <a:endParaRPr lang="ko-KR" altLang="en-US" sz="1300" b="0" spc="-8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189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Ⅱ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방법론 </a:t>
                      </a:r>
                      <a:r>
                        <a:rPr lang="en-US" altLang="ko-KR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(Methodology)</a:t>
                      </a:r>
                      <a:endParaRPr lang="ko-KR" altLang="en-US" sz="1300" b="1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spc="-8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86509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환경 및 데이터셋 설계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738449"/>
                  </a:ext>
                </a:extLst>
              </a:tr>
              <a:tr h="362192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MDP </a:t>
                      </a: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정의</a:t>
                      </a:r>
                      <a:endParaRPr lang="en-US" altLang="ko-KR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kern="1200" spc="-8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</a:t>
                      </a:r>
                      <a:endParaRPr lang="ko-KR" altLang="en-US" sz="1300" kern="1200" spc="-8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40099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다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알고리즘 및 네트워크 구조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461450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300" b="1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Ⅲ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300" b="1" kern="1200" spc="-80" baseline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실험 및 결과 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429988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실험 셋업 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(Setup &amp; Metrics)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6558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최적화 및 </a:t>
                      </a:r>
                      <a:r>
                        <a:rPr lang="ko-KR" altLang="en-US" sz="1300" b="0" kern="1200" spc="-80" baseline="0" dirty="0" err="1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하이퍼파라미터</a:t>
                      </a: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튜닝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10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72682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다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학습 성능 분석</a:t>
                      </a: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11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03137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라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에이전트 행동 분석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31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b="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15717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710277"/>
                  </a:ext>
                </a:extLst>
              </a:tr>
            </a:tbl>
          </a:graphicData>
        </a:graphic>
      </p:graphicFrame>
      <p:pic>
        <p:nvPicPr>
          <p:cNvPr id="4" name="Picture 2">
            <a:hlinkClick r:id="rId3"/>
            <a:extLst>
              <a:ext uri="{FF2B5EF4-FFF2-40B4-BE49-F238E27FC236}">
                <a16:creationId xmlns:a16="http://schemas.microsoft.com/office/drawing/2014/main" id="{4EA77788-72A7-5F40-A939-D56512A45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89575" y="6409058"/>
            <a:ext cx="2219492" cy="36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99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454B-2498-12D2-4DF1-390AFCD2A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B68CD8-FD07-06BC-B093-7A56A9E63109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프로젝트 주제 및 목표배경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8BA8D22-6E13-EE81-9416-0B113A107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484958"/>
              </p:ext>
            </p:extLst>
          </p:nvPr>
        </p:nvGraphicFramePr>
        <p:xfrm>
          <a:off x="444262" y="1199500"/>
          <a:ext cx="9017475" cy="47643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93">
                  <a:extLst>
                    <a:ext uri="{9D8B030D-6E8A-4147-A177-3AD203B41FA5}">
                      <a16:colId xmlns:a16="http://schemas.microsoft.com/office/drawing/2014/main" val="33581516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57630"/>
                    </a:ext>
                  </a:extLst>
                </a:gridCol>
                <a:gridCol w="2252587">
                  <a:extLst>
                    <a:ext uri="{9D8B030D-6E8A-4147-A177-3AD203B41FA5}">
                      <a16:colId xmlns:a16="http://schemas.microsoft.com/office/drawing/2014/main" val="2161252775"/>
                    </a:ext>
                  </a:extLst>
                </a:gridCol>
                <a:gridCol w="5225415">
                  <a:extLst>
                    <a:ext uri="{9D8B030D-6E8A-4147-A177-3AD203B41FA5}">
                      <a16:colId xmlns:a16="http://schemas.microsoft.com/office/drawing/2014/main" val="183468347"/>
                    </a:ext>
                  </a:extLst>
                </a:gridCol>
              </a:tblGrid>
              <a:tr h="3438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연구 배경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홈쇼핑 현업 근무 경험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을 통해 급격한 수요 변동에 따른 재고 관리의 구조적 한계를 인식함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b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</a:b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재고 과다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유지비 증가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와 재고 부족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매출 손실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사이의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트레이드오프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(Trade-off)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해결 필요성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증대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b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</a:b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 경험 의존적 방식에서 벗어나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데이터 기반의 자동화된 의사결정 시스템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필요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709012"/>
                  </a:ext>
                </a:extLst>
              </a:tr>
              <a:tr h="137365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182563" indent="-182563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724543"/>
                  </a:ext>
                </a:extLst>
              </a:tr>
              <a:tr h="3432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연구 목적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Double DQN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을 활용하여 과대평가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(Overestimation)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를 방지하고 불확실한 수요 환경에서도</a:t>
                      </a:r>
                      <a:endParaRPr kumimoji="0" lang="en-US" altLang="ko-K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총 운영 비용</a:t>
                      </a:r>
                      <a:r>
                        <a:rPr kumimoji="0" lang="en-US" altLang="ko-KR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(Total Cost)</a:t>
                      </a: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을 최소화하는 적응형 재고 관리 에이전트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를 구현하고자 함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94154"/>
                  </a:ext>
                </a:extLst>
              </a:tr>
              <a:tr h="137365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2563" indent="-182563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581575"/>
                  </a:ext>
                </a:extLst>
              </a:tr>
              <a:tr h="7124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연구 범위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Gymnasium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기반의 가상 물류 환경 구축 및 최적화 알고리즘 적용</a:t>
                      </a:r>
                      <a:endParaRPr kumimoji="0" lang="en-US" altLang="ko-K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데이터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포아송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분포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를 활용한 확률적 수요 및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주말 계절성 및 장기 추세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(Trend)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반영</a:t>
                      </a:r>
                      <a:endParaRPr kumimoji="0" lang="en-US" altLang="ko-K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알고리즘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학습 안정성을 높인 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Double DQN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및 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Experience Replay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적용</a:t>
                      </a:r>
                      <a:endParaRPr kumimoji="0" lang="en-US" altLang="ko-K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제약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무작위 리드타임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입고 지연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및 창고 용량 제약 반영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339638"/>
                  </a:ext>
                </a:extLst>
              </a:tr>
              <a:tr h="137365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182563" indent="-182563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433639"/>
                  </a:ext>
                </a:extLst>
              </a:tr>
              <a:tr h="137365">
                <a:tc>
                  <a:txBody>
                    <a:bodyPr/>
                    <a:lstStyle/>
                    <a:p>
                      <a:pPr marL="182563" indent="-18256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2563" indent="-182563" algn="l" defTabSz="914400" rtl="0" eaLnBrk="1" latinLnBrk="1" hangingPunct="1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700418"/>
                  </a:ext>
                </a:extLst>
              </a:tr>
              <a:tr h="517159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추진 방향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FFC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① </a:t>
                      </a:r>
                      <a:r>
                        <a:rPr lang="en-US" altLang="ko-KR" sz="1300" b="1" kern="1200" dirty="0">
                          <a:solidFill>
                            <a:srgbClr val="FFC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MDP Modeling</a:t>
                      </a:r>
                      <a:endParaRPr lang="ko-KR" altLang="en-US" sz="1300" b="1" kern="1200" dirty="0">
                        <a:solidFill>
                          <a:srgbClr val="FFC00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9388" marR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재고 및 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파이프라인</a:t>
                      </a:r>
                      <a:r>
                        <a:rPr kumimoji="0" lang="en-US" altLang="ko-KR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입고 예정</a:t>
                      </a:r>
                      <a:r>
                        <a:rPr kumimoji="0" lang="en-US" altLang="ko-KR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0" lang="en-US" altLang="ko-KR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정보를 포함한 상태 정의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79388" marR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고정 주문비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와 품절 </a:t>
                      </a:r>
                      <a:r>
                        <a:rPr kumimoji="0" lang="ko-KR" altLang="en-US" sz="13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패널티를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반영한 최적 보상 함수 설계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126132"/>
                  </a:ext>
                </a:extLst>
              </a:tr>
              <a:tr h="489157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300" kern="1200" dirty="0">
                        <a:solidFill>
                          <a:schemeClr val="bg1"/>
                        </a:solidFill>
                        <a:latin typeface="KoPub돋움체_Pro Bold" panose="00000800000000000000" pitchFamily="50" charset="-127"/>
                        <a:ea typeface="KoPub돋움체_Pro Bold" panose="000008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9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9388" marR="0" lvl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5081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00" kern="1200" dirty="0">
                        <a:solidFill>
                          <a:schemeClr val="bg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647196"/>
                  </a:ext>
                </a:extLst>
              </a:tr>
              <a:tr h="517159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FFC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② 시뮬레이션 및 성능 평가</a:t>
                      </a:r>
                      <a:endParaRPr lang="en-US" altLang="ko-KR" sz="1300" b="1" kern="1200" dirty="0">
                        <a:solidFill>
                          <a:srgbClr val="FFC00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9388" marR="0" lvl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 재고 관리 기법 대비 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비용 절감 효과 정량적 비교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패턴 시각화를 통해 </a:t>
                      </a:r>
                      <a:r>
                        <a:rPr kumimoji="0" lang="ko-KR" altLang="en-US" sz="13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선제적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대량 주문 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등 학습된 전략의 유효성 검증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868532"/>
                  </a:ext>
                </a:extLst>
              </a:tr>
              <a:tr h="517159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300" kern="1200" dirty="0">
                        <a:solidFill>
                          <a:schemeClr val="bg1"/>
                        </a:solidFill>
                        <a:latin typeface="KoPub돋움체_Pro Bold" panose="00000800000000000000" pitchFamily="50" charset="-127"/>
                        <a:ea typeface="KoPub돋움체_Pro Bold" panose="000008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9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109610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520F142-2651-9D5F-2ECD-8D92036480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rgbClr val="F6688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1" y="2476966"/>
            <a:ext cx="4319714" cy="9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1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74C2-EFA7-C239-E82B-63F60C2C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675F097-6458-65F5-7CF2-4741BCE00E9C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Ⅰ. </a:t>
            </a:r>
            <a:r>
              <a:rPr lang="ko-KR" altLang="en-US" b="0" i="0" u="none" strike="noStrike" kern="1200" baseline="0" dirty="0">
                <a:solidFill>
                  <a:srgbClr val="FFFFFF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프로젝트 주제 및 목표배경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C9CA0E-2F97-DEAE-66FD-7C2FC285C311}"/>
              </a:ext>
            </a:extLst>
          </p:cNvPr>
          <p:cNvSpPr/>
          <p:nvPr/>
        </p:nvSpPr>
        <p:spPr>
          <a:xfrm>
            <a:off x="0" y="1449388"/>
            <a:ext cx="9906000" cy="7881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16" algn="ctr"/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 물류의 영원한 숙제는 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'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균형 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'  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재고 과다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(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비용↑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) vs 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재고 부족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(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신뢰↓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)</a:t>
            </a:r>
            <a:endParaRPr lang="ko-KR" altLang="en-US" sz="1900" dirty="0">
              <a:solidFill>
                <a:srgbClr val="262626"/>
              </a:solidFill>
              <a:latin typeface="KoPub바탕체 Bold" panose="00000800000000000000" pitchFamily="2" charset="-127"/>
              <a:ea typeface="KoPub바탕체 Bold" panose="00000800000000000000" pitchFamily="2" charset="-127"/>
              <a:cs typeface="바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D58A4B4-BB45-A8BB-C04D-B268B6811EA3}"/>
              </a:ext>
            </a:extLst>
          </p:cNvPr>
          <p:cNvGrpSpPr/>
          <p:nvPr/>
        </p:nvGrpSpPr>
        <p:grpSpPr>
          <a:xfrm>
            <a:off x="317134" y="1036639"/>
            <a:ext cx="1514953" cy="338554"/>
            <a:chOff x="261714" y="1043782"/>
            <a:chExt cx="1514953" cy="338554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DA5E227-57F3-9438-DF31-B52780BC4ECB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AD78F6-964A-6EEC-BC96-64632FA06159}"/>
                </a:ext>
              </a:extLst>
            </p:cNvPr>
            <p:cNvSpPr txBox="1"/>
            <p:nvPr/>
          </p:nvSpPr>
          <p:spPr>
            <a:xfrm>
              <a:off x="308958" y="1043782"/>
              <a:ext cx="14677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ko-KR" altLang="en-US" sz="16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재고 관리의 이해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4142FD91-7CFA-73ED-5602-821BD27A46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rgbClr val="F6688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106" y="2080948"/>
            <a:ext cx="3819506" cy="79461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58475325-4063-1953-E672-283578A00A3E}"/>
              </a:ext>
            </a:extLst>
          </p:cNvPr>
          <p:cNvSpPr/>
          <p:nvPr/>
        </p:nvSpPr>
        <p:spPr>
          <a:xfrm>
            <a:off x="5054169" y="2570293"/>
            <a:ext cx="4576757" cy="3624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JBold" panose="02020603020101020101" pitchFamily="18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B0A4D2C-54BB-C1E0-9026-CE4C19725A44}"/>
              </a:ext>
            </a:extLst>
          </p:cNvPr>
          <p:cNvGrpSpPr/>
          <p:nvPr/>
        </p:nvGrpSpPr>
        <p:grpSpPr>
          <a:xfrm>
            <a:off x="4950976" y="2646662"/>
            <a:ext cx="4011706" cy="604368"/>
            <a:chOff x="237921" y="2151516"/>
            <a:chExt cx="2483307" cy="646082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9786599C-0CF8-5D2F-0233-1C77F3AAA433}"/>
                </a:ext>
              </a:extLst>
            </p:cNvPr>
            <p:cNvGrpSpPr/>
            <p:nvPr/>
          </p:nvGrpSpPr>
          <p:grpSpPr>
            <a:xfrm>
              <a:off x="237921" y="2151516"/>
              <a:ext cx="2483307" cy="488333"/>
              <a:chOff x="463419" y="3245017"/>
              <a:chExt cx="2483307" cy="488333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739FB3C1-2AFB-1A28-1CC6-6AD22334CA66}"/>
                  </a:ext>
                </a:extLst>
              </p:cNvPr>
              <p:cNvGrpSpPr/>
              <p:nvPr/>
            </p:nvGrpSpPr>
            <p:grpSpPr>
              <a:xfrm>
                <a:off x="463430" y="3245017"/>
                <a:ext cx="2483296" cy="387796"/>
                <a:chOff x="5595789" y="3715246"/>
                <a:chExt cx="1949307" cy="426576"/>
              </a:xfrm>
              <a:solidFill>
                <a:srgbClr val="0D76C8"/>
              </a:solidFill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43901443-DBC6-7D14-9184-BACA5501FBC4}"/>
                    </a:ext>
                  </a:extLst>
                </p:cNvPr>
                <p:cNvSpPr/>
                <p:nvPr/>
              </p:nvSpPr>
              <p:spPr>
                <a:xfrm>
                  <a:off x="7241233" y="3715246"/>
                  <a:ext cx="303863" cy="426575"/>
                </a:xfrm>
                <a:prstGeom prst="ellipse">
                  <a:avLst/>
                </a:prstGeom>
                <a:solidFill>
                  <a:srgbClr val="0033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4A315FAC-A14B-805A-F587-9D41E2590E2B}"/>
                    </a:ext>
                  </a:extLst>
                </p:cNvPr>
                <p:cNvSpPr/>
                <p:nvPr/>
              </p:nvSpPr>
              <p:spPr>
                <a:xfrm>
                  <a:off x="5595789" y="3715247"/>
                  <a:ext cx="1801049" cy="426575"/>
                </a:xfrm>
                <a:prstGeom prst="rect">
                  <a:avLst/>
                </a:prstGeom>
                <a:solidFill>
                  <a:srgbClr val="0033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</p:grpSp>
          <p:sp>
            <p:nvSpPr>
              <p:cNvPr id="43" name="직각 삼각형 42">
                <a:extLst>
                  <a:ext uri="{FF2B5EF4-FFF2-40B4-BE49-F238E27FC236}">
                    <a16:creationId xmlns:a16="http://schemas.microsoft.com/office/drawing/2014/main" id="{A7CAFFA6-5D99-9B24-AA41-67EFB5E7C485}"/>
                  </a:ext>
                </a:extLst>
              </p:cNvPr>
              <p:cNvSpPr/>
              <p:nvPr/>
            </p:nvSpPr>
            <p:spPr>
              <a:xfrm flipH="1" flipV="1">
                <a:off x="463419" y="3632811"/>
                <a:ext cx="108152" cy="100539"/>
              </a:xfrm>
              <a:prstGeom prst="rt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72BDCAA-6D83-0C77-5135-C7A78EC7761B}"/>
                </a:ext>
              </a:extLst>
            </p:cNvPr>
            <p:cNvSpPr txBox="1"/>
            <p:nvPr/>
          </p:nvSpPr>
          <p:spPr>
            <a:xfrm>
              <a:off x="271225" y="2172461"/>
              <a:ext cx="2342591" cy="625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kern="0" spc="-100" dirty="0">
                  <a:ln w="3175"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불확실한 수요</a:t>
              </a:r>
              <a:r>
                <a:rPr lang="en-US" altLang="ko-KR" sz="1600" kern="0" spc="-100" dirty="0">
                  <a:ln w="3175"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1600" kern="0" spc="-100" dirty="0">
                  <a:ln w="3175"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왜 기존 방식으로는 안 되는가</a:t>
              </a:r>
              <a:r>
                <a:rPr lang="en-US" altLang="ko-KR" sz="1600" kern="0" spc="-100" dirty="0">
                  <a:ln w="3175"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??</a:t>
              </a:r>
              <a:endParaRPr lang="ko-KR" altLang="en-US" sz="1600" kern="0" spc="-100" dirty="0">
                <a:ln w="3175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1159B92-CBB4-AA95-05D5-ACA23F9EA580}"/>
              </a:ext>
            </a:extLst>
          </p:cNvPr>
          <p:cNvSpPr/>
          <p:nvPr/>
        </p:nvSpPr>
        <p:spPr>
          <a:xfrm>
            <a:off x="5128775" y="2959062"/>
            <a:ext cx="4384676" cy="3235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산업적 배경 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(Motivation): 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홈쇼핑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500" b="1" dirty="0" err="1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이커머스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특성상 </a:t>
            </a:r>
            <a:r>
              <a:rPr lang="ko-KR" altLang="en-US" sz="1500" b="1" dirty="0" err="1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트렌드뿐만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아니라 </a:t>
            </a:r>
            <a:r>
              <a:rPr lang="ko-KR" altLang="en-US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요일</a:t>
            </a:r>
            <a:r>
              <a:rPr lang="en-US" altLang="ko-KR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주말</a:t>
            </a:r>
            <a:r>
              <a:rPr lang="en-US" altLang="ko-KR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), </a:t>
            </a:r>
            <a:r>
              <a:rPr lang="ko-KR" altLang="en-US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이벤트에 따른 비선형적 수요 급증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패턴이 존재함</a:t>
            </a: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endParaRPr lang="en-US" altLang="ko-KR" sz="15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한계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(Limitation): 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기존의 고정 규칙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((s, S) Policy)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은 급변하는 수요와 계절성에 대응하기 어려움</a:t>
            </a: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목표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(Goal): Double DQN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활용하여 비용을 최소화하는 적응형 주문 정책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(Adaptive Policy) 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학습</a:t>
            </a: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2" name="그림 1" descr="텍스트, 스케치, 그림, 광고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3D1548-174B-DE15-5194-AC04526F5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3" y="3009418"/>
            <a:ext cx="4817029" cy="26296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9978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84CA7F1-6BCF-0C2F-42D5-1E61B771A117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Ⅰ.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팀 및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팀원 소개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D6453FF-6B6A-DF70-327C-53F043EC7F1E}"/>
              </a:ext>
            </a:extLst>
          </p:cNvPr>
          <p:cNvGrpSpPr/>
          <p:nvPr/>
        </p:nvGrpSpPr>
        <p:grpSpPr>
          <a:xfrm>
            <a:off x="317134" y="1036639"/>
            <a:ext cx="4772448" cy="338554"/>
            <a:chOff x="261714" y="1043782"/>
            <a:chExt cx="4772448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A34E785-F8FA-DAB5-0C34-3EC920CAC981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D4E23A-6577-A99A-CCB8-009DCDCBBB04}"/>
                </a:ext>
              </a:extLst>
            </p:cNvPr>
            <p:cNvSpPr txBox="1"/>
            <p:nvPr/>
          </p:nvSpPr>
          <p:spPr>
            <a:xfrm>
              <a:off x="308958" y="1043782"/>
              <a:ext cx="47252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ko-KR" altLang="en-US" sz="1600" spc="-8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팀명</a:t>
              </a:r>
              <a:r>
                <a:rPr lang="en-US" altLang="ko-KR" sz="16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: Q-Pang 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(Q-learning + </a:t>
              </a:r>
              <a:r>
                <a:rPr lang="ko-KR" altLang="en-US" sz="1400" spc="-8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쿠팡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1400" spc="-8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이커머스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/</a:t>
              </a:r>
              <a:r>
                <a:rPr lang="ko-KR" altLang="en-US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물류 대표 기업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 </a:t>
              </a:r>
              <a:r>
                <a:rPr lang="ko-KR" altLang="en-US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연상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  <a:endParaRPr lang="ko-KR" altLang="en-US" sz="1600" spc="-8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22" name="Google Shape;532;p49">
            <a:extLst>
              <a:ext uri="{FF2B5EF4-FFF2-40B4-BE49-F238E27FC236}">
                <a16:creationId xmlns:a16="http://schemas.microsoft.com/office/drawing/2014/main" id="{FA2F9FA3-0973-BADA-8A46-3ED0878CF4CB}"/>
              </a:ext>
            </a:extLst>
          </p:cNvPr>
          <p:cNvSpPr txBox="1"/>
          <p:nvPr/>
        </p:nvSpPr>
        <p:spPr>
          <a:xfrm>
            <a:off x="1113237" y="4416819"/>
            <a:ext cx="377930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spc="-80" dirty="0" err="1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데이터사이언스</a:t>
            </a:r>
            <a:r>
              <a:rPr lang="en-US" altLang="ko-KR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·</a:t>
            </a:r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인공지능</a:t>
            </a:r>
            <a:endParaRPr lang="en-US" altLang="ko-KR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어 </a:t>
            </a:r>
            <a:r>
              <a:rPr lang="ko-KR" altLang="en-US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준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성 </a:t>
            </a:r>
            <a:r>
              <a:rPr lang="en-US" altLang="ko-KR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(</a:t>
            </a:r>
            <a:r>
              <a:rPr 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A71035)</a:t>
            </a:r>
            <a:endParaRPr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altLang="en-US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프로젝트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기획 및 환경 모델링</a:t>
            </a:r>
            <a:r>
              <a:rPr lang="en-US" altLang="ko-KR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(MDP)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설계</a:t>
            </a:r>
            <a:endParaRPr lang="en-US" altLang="ko-KR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3343F9F-33AE-CA93-44E8-5758E7D66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05" y="1539703"/>
            <a:ext cx="2651549" cy="271260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1234DDF-77EF-943D-8997-1CC3FC18E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188" y="1710233"/>
            <a:ext cx="2371546" cy="2371546"/>
          </a:xfrm>
          <a:prstGeom prst="rect">
            <a:avLst/>
          </a:prstGeom>
        </p:spPr>
      </p:pic>
      <p:sp>
        <p:nvSpPr>
          <p:cNvPr id="2" name="Google Shape;532;p49">
            <a:extLst>
              <a:ext uri="{FF2B5EF4-FFF2-40B4-BE49-F238E27FC236}">
                <a16:creationId xmlns:a16="http://schemas.microsoft.com/office/drawing/2014/main" id="{4E439CF7-A7C8-B16D-8145-59532BB5079D}"/>
              </a:ext>
            </a:extLst>
          </p:cNvPr>
          <p:cNvSpPr txBox="1"/>
          <p:nvPr/>
        </p:nvSpPr>
        <p:spPr>
          <a:xfrm>
            <a:off x="5055647" y="4411164"/>
            <a:ext cx="410160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ko-KR" altLang="en-US" sz="1600" spc="-80" dirty="0" err="1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데이터사이언스</a:t>
            </a:r>
            <a:r>
              <a:rPr lang="en-US" altLang="ko-KR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·</a:t>
            </a:r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인공지능</a:t>
            </a:r>
          </a:p>
          <a:p>
            <a:pPr algn="ctr"/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유 </a:t>
            </a:r>
            <a:r>
              <a:rPr lang="ko-KR" altLang="en-US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문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식</a:t>
            </a:r>
            <a:r>
              <a:rPr lang="en-US" altLang="ko-KR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 (</a:t>
            </a:r>
            <a:r>
              <a:rPr lang="en-US" altLang="ko-KR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A72063)</a:t>
            </a:r>
            <a:endParaRPr lang="ko-KR" altLang="en-US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algn="ctr"/>
            <a:endParaRPr lang="ko-KR" altLang="en-US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algn="ctr">
              <a:buClr>
                <a:schemeClr val="dk1"/>
              </a:buClr>
            </a:pPr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에이전트 구현 </a:t>
            </a:r>
            <a:r>
              <a:rPr lang="ko-KR" altLang="en-US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성능 최적화</a:t>
            </a:r>
            <a:r>
              <a:rPr lang="en-US" altLang="ko-KR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시뮬레이터 개발</a:t>
            </a:r>
            <a:endParaRPr lang="ko-KR" altLang="en-US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1279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5B81-AA1B-5146-9409-F366CEA00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C4D0C7-7BFD-13E3-1155-B7251661AEC8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환경 및 데이터셋 설명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88E70-9A95-CE41-9CD8-0BAF2BD4DAC3}"/>
              </a:ext>
            </a:extLst>
          </p:cNvPr>
          <p:cNvSpPr/>
          <p:nvPr/>
        </p:nvSpPr>
        <p:spPr>
          <a:xfrm>
            <a:off x="0" y="1041214"/>
            <a:ext cx="9906000" cy="84190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AECB3AF-F430-758F-838B-4596F940ECFD}"/>
              </a:ext>
            </a:extLst>
          </p:cNvPr>
          <p:cNvCxnSpPr>
            <a:cxnSpLocks/>
          </p:cNvCxnSpPr>
          <p:nvPr/>
        </p:nvCxnSpPr>
        <p:spPr>
          <a:xfrm>
            <a:off x="749300" y="1766808"/>
            <a:ext cx="8578850" cy="0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7C4F9B-CA1A-7E79-2FB9-6F3C177432D0}"/>
              </a:ext>
            </a:extLst>
          </p:cNvPr>
          <p:cNvSpPr txBox="1"/>
          <p:nvPr/>
        </p:nvSpPr>
        <p:spPr>
          <a:xfrm>
            <a:off x="566738" y="1292967"/>
            <a:ext cx="929667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“</a:t>
            </a:r>
            <a:r>
              <a:rPr lang="ko-KR" altLang="en-US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단순한 무작위</a:t>
            </a:r>
            <a:r>
              <a:rPr lang="en-US" altLang="ko-KR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(Random) </a:t>
            </a:r>
            <a:r>
              <a:rPr lang="ko-KR" altLang="en-US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데이터로는                            을 학습할 수 없다</a:t>
            </a:r>
            <a:r>
              <a:rPr lang="en-US" altLang="ko-KR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.”</a:t>
            </a:r>
            <a:endParaRPr lang="ko-KR" altLang="en-US" sz="2300" dirty="0">
              <a:solidFill>
                <a:schemeClr val="bg1"/>
              </a:solidFill>
              <a:latin typeface="KoPub바탕체 Medium" panose="00000600000000000000" pitchFamily="2" charset="-127"/>
              <a:ea typeface="KoPub바탕체 Medium" panose="00000600000000000000" pitchFamily="2" charset="-127"/>
            </a:endParaRPr>
          </a:p>
        </p:txBody>
      </p:sp>
      <p:sp>
        <p:nvSpPr>
          <p:cNvPr id="14" name="모서리가 둥근 직사각형 17">
            <a:extLst>
              <a:ext uri="{FF2B5EF4-FFF2-40B4-BE49-F238E27FC236}">
                <a16:creationId xmlns:a16="http://schemas.microsoft.com/office/drawing/2014/main" id="{3E5F3F2C-5985-3B98-F150-C347D9914CD6}"/>
              </a:ext>
            </a:extLst>
          </p:cNvPr>
          <p:cNvSpPr/>
          <p:nvPr/>
        </p:nvSpPr>
        <p:spPr>
          <a:xfrm>
            <a:off x="5215075" y="1241629"/>
            <a:ext cx="2106146" cy="497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26262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현실의 불확실성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9EDED-6830-CE50-907A-01455D8E7EFE}"/>
              </a:ext>
            </a:extLst>
          </p:cNvPr>
          <p:cNvSpPr/>
          <p:nvPr/>
        </p:nvSpPr>
        <p:spPr>
          <a:xfrm>
            <a:off x="640138" y="2302415"/>
            <a:ext cx="4227138" cy="3624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JBold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923509-936B-C9A3-7BB2-989B370EC798}"/>
              </a:ext>
            </a:extLst>
          </p:cNvPr>
          <p:cNvSpPr/>
          <p:nvPr/>
        </p:nvSpPr>
        <p:spPr>
          <a:xfrm>
            <a:off x="728842" y="2496799"/>
            <a:ext cx="4049730" cy="3235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 생성 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(Data Generation)</a:t>
            </a:r>
          </a:p>
          <a:p>
            <a:pPr lvl="0" algn="ctr" latinLnBrk="0">
              <a:lnSpc>
                <a:spcPct val="150000"/>
              </a:lnSpc>
              <a:defRPr/>
            </a:pP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 유통 데이터의 통계적 모사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vl="0" algn="ctr" latinLnBrk="0">
              <a:lnSpc>
                <a:spcPct val="150000"/>
              </a:lnSpc>
              <a:defRPr/>
            </a:pP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정적 데이터 대신 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Poisson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활용하여 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수요의 불확실성 모사</a:t>
            </a:r>
            <a:endParaRPr lang="en-US" altLang="ko-KR" sz="15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60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 주기의 계절성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(Seasonality)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장기적 수요 </a:t>
            </a:r>
            <a:endParaRPr lang="en-US" altLang="ko-KR" sz="15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증가 추세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(Trend)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수식으로 구현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복합적인 패턴이 섞인 고난이도 시뮬레이션 환경 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algn="ctr" latinLnBrk="0">
              <a:lnSpc>
                <a:spcPct val="150000"/>
              </a:lnSpc>
              <a:defRPr/>
            </a:pP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B3D3B3-C4EB-FC77-5087-01CFF4B0A3E8}"/>
              </a:ext>
            </a:extLst>
          </p:cNvPr>
          <p:cNvSpPr/>
          <p:nvPr/>
        </p:nvSpPr>
        <p:spPr>
          <a:xfrm>
            <a:off x="5101012" y="2302415"/>
            <a:ext cx="4227138" cy="3624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JBold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A7CE6B-60B1-3411-F9BE-864A0A13A92A}"/>
              </a:ext>
            </a:extLst>
          </p:cNvPr>
          <p:cNvSpPr/>
          <p:nvPr/>
        </p:nvSpPr>
        <p:spPr>
          <a:xfrm>
            <a:off x="5252004" y="2496799"/>
            <a:ext cx="4049730" cy="3235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 특징 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(Data Features)</a:t>
            </a:r>
          </a:p>
          <a:p>
            <a:pPr lvl="0" algn="ctr" latinLnBrk="0">
              <a:lnSpc>
                <a:spcPct val="150000"/>
              </a:lnSpc>
              <a:defRPr/>
            </a:pP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계절성 및 주말 패턴 적용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vl="0" algn="ctr" latinLnBrk="0">
              <a:lnSpc>
                <a:spcPct val="150000"/>
              </a:lnSpc>
              <a:defRPr/>
            </a:pP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평일 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vs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주말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수요 격차를 인위적으로 조성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주말</a:t>
            </a: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토</a:t>
            </a: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수요가 평일 대비 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1.3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(30%)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증가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하도록 설계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에이전트가 요일별 변동성과 시계열 패턴을 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스스로 인지하는지 검증</a:t>
            </a:r>
          </a:p>
        </p:txBody>
      </p:sp>
    </p:spTree>
    <p:extLst>
      <p:ext uri="{BB962C8B-B14F-4D97-AF65-F5344CB8AC3E}">
        <p14:creationId xmlns:p14="http://schemas.microsoft.com/office/powerpoint/2010/main" val="262479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AE5E-79AF-1553-0515-2B0BE072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62B1CCCE-468E-CEA8-1584-FFC523E909C9}"/>
              </a:ext>
            </a:extLst>
          </p:cNvPr>
          <p:cNvGrpSpPr/>
          <p:nvPr/>
        </p:nvGrpSpPr>
        <p:grpSpPr>
          <a:xfrm>
            <a:off x="317134" y="1036639"/>
            <a:ext cx="8130098" cy="338554"/>
            <a:chOff x="261714" y="1043782"/>
            <a:chExt cx="8130098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F14B3B8-166C-A99D-99BB-898D31F9806C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E5C047-5102-394A-C254-6840725933A4}"/>
                </a:ext>
              </a:extLst>
            </p:cNvPr>
            <p:cNvSpPr txBox="1"/>
            <p:nvPr/>
          </p:nvSpPr>
          <p:spPr>
            <a:xfrm>
              <a:off x="308958" y="1043782"/>
              <a:ext cx="80828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강화학습 에이전트가 환경과 상호작용하기 위한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MDP(Markov Decision Process)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를 다음과 같이 정의함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E8A31E-A16A-9535-E55B-2B49D304D442}"/>
              </a:ext>
            </a:extLst>
          </p:cNvPr>
          <p:cNvGrpSpPr/>
          <p:nvPr/>
        </p:nvGrpSpPr>
        <p:grpSpPr>
          <a:xfrm>
            <a:off x="304800" y="1519238"/>
            <a:ext cx="9090855" cy="4790751"/>
            <a:chOff x="304800" y="1620838"/>
            <a:chExt cx="9090855" cy="479075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AC88E08-CF1C-F877-6384-5C1665124C55}"/>
                </a:ext>
              </a:extLst>
            </p:cNvPr>
            <p:cNvSpPr txBox="1"/>
            <p:nvPr/>
          </p:nvSpPr>
          <p:spPr>
            <a:xfrm>
              <a:off x="510344" y="1692348"/>
              <a:ext cx="8885311" cy="4719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State (St): 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에이전트의 의사결정에 필요한 핵심 정보 </a:t>
              </a:r>
              <a:r>
                <a:rPr lang="en-US" altLang="ko-KR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4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가지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Inventory Level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현재 창고 재고량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Previous Demand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전일 수요량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추세 파악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Day of Week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요일 정보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주말 수요 급증 패턴 학습용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Pipeline Inventory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재고뿐만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아니라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리드타임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동안 도착 예정인 물량을 상태에 포함하여 중복 주문 방지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endParaRPr lang="en-US" altLang="ko-KR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Action (At): </a:t>
              </a:r>
              <a:r>
                <a:rPr lang="ko-KR" altLang="en-US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주문 가능한 수량 </a:t>
              </a:r>
              <a:r>
                <a:rPr lang="en-US" altLang="ko-KR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(Discrete Space)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A: {0, 10,000, 20,000, ..., 100,000} (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대규모 창고 스케일 적용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Reward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(Rt):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비용 최소화를 위한 음의 보상 함수 설계</a:t>
              </a:r>
              <a:endPara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Rt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=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- (0.5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x Inv + 50 x Stockout + 1000 x </a:t>
              </a:r>
              <a:r>
                <a:rPr lang="en-US" altLang="ko-KR" sz="1500" b="1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FixedCost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+ Purchase)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설계 의도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500" kern="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1. </a:t>
              </a:r>
              <a:r>
                <a:rPr lang="ko-KR" altLang="en-US" sz="1500" kern="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품절 </a:t>
              </a:r>
              <a:r>
                <a:rPr lang="ko-KR" altLang="en-US" sz="1500" kern="0" dirty="0" err="1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패널티를</a:t>
              </a:r>
              <a:r>
                <a:rPr lang="ko-KR" altLang="en-US" sz="1500" kern="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유지비의 </a:t>
              </a:r>
              <a:r>
                <a:rPr lang="en-US" altLang="ko-KR" sz="1500" kern="0" dirty="0"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100</a:t>
              </a:r>
              <a:r>
                <a:rPr lang="ko-KR" altLang="en-US" sz="1500" kern="0" dirty="0"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배</a:t>
              </a:r>
              <a:r>
                <a:rPr lang="ko-KR" altLang="en-US" sz="1500" kern="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로 설정하여 품절 방지 강화 → 고객 신뢰 최우선</a:t>
              </a:r>
              <a:endParaRPr lang="en-US" altLang="ko-KR" sz="1500" kern="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 2.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고정 주문 비용을 반영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하여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매일 조금씩 주문하는 것보다 최적 시점에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대량 주문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(Batch Ordering)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하도록 유도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8D413A5-5ECB-8665-08E7-038DB5166163}"/>
                </a:ext>
              </a:extLst>
            </p:cNvPr>
            <p:cNvSpPr txBox="1"/>
            <p:nvPr/>
          </p:nvSpPr>
          <p:spPr>
            <a:xfrm>
              <a:off x="304800" y="1620838"/>
              <a:ext cx="11493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6639C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sym typeface="Wingdings" panose="05000000000000000000" pitchFamily="2" charset="2"/>
                </a:rPr>
                <a:t> </a:t>
              </a:r>
              <a:endParaRPr lang="ko-KR" altLang="en-US" sz="1600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F200DC-FE6F-B2B1-171B-E9FD87EEAF35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Ⅱ. MDP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정의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(State, Action, Reward)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07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ED02-27D5-A86D-D350-1BA20FB96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C138F9EC-5A12-CA2C-3526-8AE35A2402F2}"/>
              </a:ext>
            </a:extLst>
          </p:cNvPr>
          <p:cNvGrpSpPr/>
          <p:nvPr/>
        </p:nvGrpSpPr>
        <p:grpSpPr>
          <a:xfrm>
            <a:off x="317134" y="1036639"/>
            <a:ext cx="2532091" cy="338554"/>
            <a:chOff x="261714" y="1043782"/>
            <a:chExt cx="2532091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76ED917-CFDE-DDBB-CF76-594694B02FE6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01B924-5E3B-F952-C43F-E6953DF16CB2}"/>
                </a:ext>
              </a:extLst>
            </p:cNvPr>
            <p:cNvSpPr txBox="1"/>
            <p:nvPr/>
          </p:nvSpPr>
          <p:spPr>
            <a:xfrm>
              <a:off x="308958" y="1043782"/>
              <a:ext cx="24848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알고리즘 및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Hyperparameter</a:t>
              </a:r>
              <a:endParaRPr kumimoji="0" lang="ko-KR" altLang="en-US" sz="1600" b="0" i="0" u="none" strike="noStrike" kern="1200" cap="none" spc="-8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0E54EE6-854D-9539-CA17-7E25B31D2BA1}"/>
              </a:ext>
            </a:extLst>
          </p:cNvPr>
          <p:cNvSpPr txBox="1"/>
          <p:nvPr/>
        </p:nvSpPr>
        <p:spPr>
          <a:xfrm>
            <a:off x="510344" y="1429720"/>
            <a:ext cx="8885311" cy="5144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Algorithm: Double DQN (DDQN)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일반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DQN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Q-value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과대평가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(Overestimation)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문제를 해결하여 학습 안정성 확보</a:t>
            </a:r>
            <a:endParaRPr lang="en-US" altLang="ko-KR" sz="15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Network: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Input(State Dim)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→ 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FC(256)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→ </a:t>
            </a:r>
            <a:r>
              <a:rPr lang="en-US" altLang="ko-KR" sz="1600" b="1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ReLU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→ 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FC(256)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→ 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Output(Action Dim)</a:t>
            </a: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2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Hyperparameters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l-GR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γ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= 0.99 (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장기적 시야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), </a:t>
            </a:r>
            <a:r>
              <a:rPr lang="en-US" altLang="ko-KR" sz="15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lr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= 1e-4 (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안정적 학습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Replay Buffer: 100,000, Batch Size: 256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Epsilon Decay: 0.9998 (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매우 천천히 탐험을 줄여 충분한 데이터 확보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</a:t>
            </a:r>
            <a:r>
              <a:rPr lang="en-US" altLang="ko-KR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※ </a:t>
            </a:r>
            <a:r>
              <a:rPr lang="ko-KR" altLang="en-US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핵심 파라미터</a:t>
            </a:r>
            <a:r>
              <a:rPr lang="en-US" altLang="ko-KR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품절 비용 등</a:t>
            </a:r>
            <a:r>
              <a:rPr lang="en-US" altLang="ko-KR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조정 시</a:t>
            </a:r>
            <a:r>
              <a:rPr lang="en-US" altLang="ko-KR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에이전트가 환경 변화를 인지하고 재고 운영 전략을 능동적으로 수정</a:t>
            </a:r>
            <a:endParaRPr lang="en-US" altLang="ko-KR" sz="12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6A583A-9377-F9C5-5326-C08B843D0FA7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알고리즘 및 네트워크 구조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(Double DQN)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pic>
        <p:nvPicPr>
          <p:cNvPr id="5" name="그림 4" descr="도표, 라인, 스케치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823BD5-E987-608C-F41B-8D9754591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877" y="2518704"/>
            <a:ext cx="4274244" cy="233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3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E4C6-E503-A992-6C94-8FEFA787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B578F4DC-279E-5F0A-D427-F6D1D8B037ED}"/>
              </a:ext>
            </a:extLst>
          </p:cNvPr>
          <p:cNvGrpSpPr/>
          <p:nvPr/>
        </p:nvGrpSpPr>
        <p:grpSpPr>
          <a:xfrm>
            <a:off x="317134" y="1036639"/>
            <a:ext cx="6258175" cy="338554"/>
            <a:chOff x="261714" y="1043782"/>
            <a:chExt cx="6258175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43DE7B0-6279-8B9B-E2AF-6CED34BB64B4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D544E-0612-1153-EA41-095057016C8A}"/>
                </a:ext>
              </a:extLst>
            </p:cNvPr>
            <p:cNvSpPr txBox="1"/>
            <p:nvPr/>
          </p:nvSpPr>
          <p:spPr>
            <a:xfrm>
              <a:off x="308958" y="1043782"/>
              <a:ext cx="62109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사용자 정의 가능한 시뮬레이션 환경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(Customizable Simulation Environment)</a:t>
              </a:r>
              <a:endParaRPr kumimoji="0" lang="ko-KR" altLang="en-US" sz="1600" b="0" i="0" u="none" strike="noStrike" kern="1200" cap="none" spc="-8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6D5DD7D-1340-E133-1CC8-0516BB81B175}"/>
              </a:ext>
            </a:extLst>
          </p:cNvPr>
          <p:cNvGrpSpPr/>
          <p:nvPr/>
        </p:nvGrpSpPr>
        <p:grpSpPr>
          <a:xfrm>
            <a:off x="452438" y="4573961"/>
            <a:ext cx="9256593" cy="1838965"/>
            <a:chOff x="452439" y="1790115"/>
            <a:chExt cx="9256593" cy="1838965"/>
          </a:xfrm>
          <a:solidFill>
            <a:schemeClr val="bg1"/>
          </a:solidFill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26F382A-1605-1944-9356-71486066E22F}"/>
                </a:ext>
              </a:extLst>
            </p:cNvPr>
            <p:cNvSpPr txBox="1"/>
            <p:nvPr/>
          </p:nvSpPr>
          <p:spPr>
            <a:xfrm>
              <a:off x="452439" y="1790115"/>
              <a:ext cx="4679950" cy="18389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1. </a:t>
              </a: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리드타임 </a:t>
              </a: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&amp; </a:t>
              </a: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스케일 </a:t>
              </a: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(Logistics Constraints)</a:t>
              </a: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Lead Time (Min/Max)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공급망 상황에 따른 입고 지연일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설정 가능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Capacity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창고 규모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최대 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200,000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개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에 따른 제약 조건 반영</a:t>
              </a:r>
              <a:endParaRPr lang="en-US" altLang="ko-KR" sz="105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비용 구조 </a:t>
              </a:r>
              <a:r>
                <a:rPr lang="en-US" altLang="ko-KR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(Cost Structure)</a:t>
              </a: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Holding vs Stockout Cost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재고 유지비와 </a:t>
              </a:r>
              <a:r>
                <a:rPr lang="ko-KR" altLang="en-US" sz="105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품절비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비율 조정을 통해 에이전트 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　　　　　　　　　　　　　　성향 변화 실험 가능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Fixed Order Cost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050" spc="-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고정 </a:t>
              </a:r>
              <a:r>
                <a:rPr lang="ko-KR" altLang="en-US" sz="1050" spc="-5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주문비</a:t>
              </a:r>
              <a:r>
                <a:rPr lang="ko-KR" altLang="en-US" sz="1050" spc="-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설정을 통해 배치 주문</a:t>
              </a:r>
              <a:r>
                <a:rPr lang="en-US" altLang="ko-KR" sz="1050" spc="-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(Batch Ordering) </a:t>
              </a:r>
              <a:r>
                <a:rPr lang="ko-KR" altLang="en-US" sz="1050" spc="-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전략 유도</a:t>
              </a:r>
              <a:endParaRPr lang="en-US" altLang="ko-KR" sz="1050" b="1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3EB3E7-2675-DA6E-A28F-A8097071F4D9}"/>
                </a:ext>
              </a:extLst>
            </p:cNvPr>
            <p:cNvSpPr txBox="1"/>
            <p:nvPr/>
          </p:nvSpPr>
          <p:spPr>
            <a:xfrm>
              <a:off x="5029082" y="1790115"/>
              <a:ext cx="4679950" cy="104644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3. </a:t>
              </a:r>
              <a:r>
                <a:rPr lang="ko-KR" altLang="en-US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수요 프로파일 </a:t>
              </a:r>
              <a:r>
                <a:rPr lang="en-US" altLang="ko-KR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(Demand Profile)</a:t>
              </a: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Uncertainty Level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Low/Medium/High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등 변동성 강도 조절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Demand Pattern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Seasonal(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계절성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), Trending(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추세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), Volatile(</a:t>
              </a:r>
              <a:r>
                <a:rPr lang="ko-KR" altLang="en-US" sz="105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급변동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등 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　　　　　　　　　　다양한 수요 시나리오 테스트 지원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DDA05E-A527-40B8-D877-2AA6B8D9FFCF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실험 셋업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–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시뮬레이션 환경 및 파라미터 설계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FF822D7-29A9-E607-9219-28C388A98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080" y="1609904"/>
            <a:ext cx="6147433" cy="273537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4352D6F-5882-3BED-F0D8-AE4CE295D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04" y="1609590"/>
            <a:ext cx="1171650" cy="2736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C9CCC75-4D67-54E1-6C93-F4E331E96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6766" y="1629108"/>
            <a:ext cx="1244635" cy="27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6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E3FB-ABE0-5331-8FCD-67E085C0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CBB3BBEC-C66E-B9A3-99F2-25F94C54D75B}"/>
              </a:ext>
            </a:extLst>
          </p:cNvPr>
          <p:cNvGrpSpPr/>
          <p:nvPr/>
        </p:nvGrpSpPr>
        <p:grpSpPr>
          <a:xfrm>
            <a:off x="317134" y="1036639"/>
            <a:ext cx="3693435" cy="338554"/>
            <a:chOff x="261714" y="1043782"/>
            <a:chExt cx="3693435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66408A6-4446-7CC0-7BBA-2BAAC0352DE2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805F91-9554-8ECA-755E-A707BC4D390A}"/>
                </a:ext>
              </a:extLst>
            </p:cNvPr>
            <p:cNvSpPr txBox="1"/>
            <p:nvPr/>
          </p:nvSpPr>
          <p:spPr>
            <a:xfrm>
              <a:off x="308958" y="1043782"/>
              <a:ext cx="36461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학습 성능 향상을 위한 </a:t>
              </a:r>
              <a:r>
                <a:rPr kumimoji="0" lang="ko-KR" altLang="en-US" sz="1600" b="0" i="0" u="none" strike="noStrike" kern="1200" cap="none" spc="-80" normalizeH="0" baseline="0" noProof="0" dirty="0" err="1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하이퍼파라미터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 최적화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C887A72-ABE5-2B14-F57E-E8962EAF959F}"/>
              </a:ext>
            </a:extLst>
          </p:cNvPr>
          <p:cNvSpPr txBox="1"/>
          <p:nvPr/>
        </p:nvSpPr>
        <p:spPr>
          <a:xfrm>
            <a:off x="510344" y="1429720"/>
            <a:ext cx="8885311" cy="5037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Learning Rate (</a:t>
            </a:r>
            <a:r>
              <a:rPr kumimoji="0" lang="ko-K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학습률</a:t>
            </a: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조정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Before (1e-7)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학습 속도가 지나치게 느려 가중치 업데이트 미비 →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Underfitting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발생</a:t>
            </a:r>
            <a:endParaRPr lang="en-US" altLang="ko-KR" sz="15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After (1e-4)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보폭을 키워 초기 수렴 속도를 확보하되 발산하지 않는 </a:t>
            </a:r>
            <a:r>
              <a:rPr lang="ko-KR" altLang="en-US" sz="15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최적값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선정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Effect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학습 효율성 증대 및 정상적인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Loss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감소 유도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Epsilon Decay (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탐험 감소율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완화</a:t>
            </a: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Before (0.999)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탐험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(Exploration)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너무 빠르게 종료됨  →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Local Optima(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국소 최적해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정체</a:t>
            </a:r>
            <a:endParaRPr lang="en-US" altLang="ko-KR" sz="15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After (0.9998)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감쇠율을 완만하게 조정하여 충분한 탐험 기간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(Exploration Phase)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확보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Effect</a:t>
            </a:r>
            <a:r>
              <a:rPr lang="en-US" altLang="ko-KR" sz="15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State-Action Pair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경험을 통해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Global Optimum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수렴 유도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Replay Buffer Size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확대</a:t>
            </a: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Setting (100,000)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대용량 버퍼 메모리 확보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Purpose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 간의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시간적 상관관계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(Temporal Correlation)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제거</a:t>
            </a:r>
            <a:endParaRPr lang="en-US" altLang="ko-KR" sz="15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Effect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샘플의 </a:t>
            </a:r>
            <a:r>
              <a:rPr lang="en-US" altLang="ko-KR" sz="15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i.i.d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(Independent and Identically Distributed)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조건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만족시켜 학습 안정성 강화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5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9BA7ED-21D6-FFD4-EE1C-1DCA8FA09E07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학습 최적화 및 </a:t>
            </a:r>
            <a:r>
              <a:rPr lang="ko-KR" altLang="en-US" dirty="0" err="1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하이퍼파라미터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 튜닝</a:t>
            </a:r>
          </a:p>
        </p:txBody>
      </p:sp>
    </p:spTree>
    <p:extLst>
      <p:ext uri="{BB962C8B-B14F-4D97-AF65-F5344CB8AC3E}">
        <p14:creationId xmlns:p14="http://schemas.microsoft.com/office/powerpoint/2010/main" val="396937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935D-4C48-94C4-7357-6E72C572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7B030102-737F-705A-0390-34B3220C7E80}"/>
              </a:ext>
            </a:extLst>
          </p:cNvPr>
          <p:cNvGrpSpPr/>
          <p:nvPr/>
        </p:nvGrpSpPr>
        <p:grpSpPr>
          <a:xfrm>
            <a:off x="317134" y="1036639"/>
            <a:ext cx="4282250" cy="338554"/>
            <a:chOff x="261714" y="1043782"/>
            <a:chExt cx="4282250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02561B0-D619-8680-DFC1-F6EAB04A980A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18D9C5-2CF3-75A1-3EF5-A48500EB0FB7}"/>
                </a:ext>
              </a:extLst>
            </p:cNvPr>
            <p:cNvSpPr txBox="1"/>
            <p:nvPr/>
          </p:nvSpPr>
          <p:spPr>
            <a:xfrm>
              <a:off x="308958" y="1043782"/>
              <a:ext cx="42350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코드 실행 결과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1: 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학습 곡선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(Reward) 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및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Loss 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그래프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0C93A53-983D-0F18-C51B-19DC22E38EF2}"/>
              </a:ext>
            </a:extLst>
          </p:cNvPr>
          <p:cNvSpPr txBox="1"/>
          <p:nvPr/>
        </p:nvSpPr>
        <p:spPr>
          <a:xfrm>
            <a:off x="452438" y="4320800"/>
            <a:ext cx="871696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[Phase 1: Exploration (0~280 ep)]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높은 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탐험률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l-GR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ϵ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인해 무작위 주문이 발생하여 주문이 발생하며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-2,000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수준의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>
              <a:defRPr/>
            </a:pP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                                             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낮은 보상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높은 비용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에서 횡보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>
              <a:defRPr/>
            </a:pPr>
            <a:endParaRPr lang="en-US" altLang="ko-KR" sz="5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[Phase 2: Exploitation &amp; Convergence (280~450 ep)]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유의미한 패턴을 학습하며 보상이 급격히 상승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약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300 </a:t>
            </a:r>
            <a:r>
              <a:rPr lang="ko-KR" altLang="en-US" sz="1400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에피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                                                                            </a:t>
            </a:r>
            <a:r>
              <a:rPr lang="ko-KR" altLang="en-US" sz="1400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소드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부근에서 성능의 </a:t>
            </a:r>
            <a:r>
              <a:rPr lang="ko-KR" altLang="en-US" sz="1400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퀀텀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점프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(Quantum Jump)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발생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endParaRPr lang="en-US" altLang="ko-KR" sz="5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[Phase 3: Stability (450+ ep)]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보상이 약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-600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수준에서 안정적으로 수렴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초반 대비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약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70%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이상의 비용 절감 효과 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                                       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달성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endParaRPr lang="en-US" altLang="ko-KR" sz="5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[Loss Analysis]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초기 급락 후 완만하게 상승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유지되는 패턴은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Target Network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지속적으로 업데이트되며 새로운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                 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경험을 안정적으로 학습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하고 있음을 시사함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0682E79-83C7-4618-8069-E98DED27303B}"/>
              </a:ext>
            </a:extLst>
          </p:cNvPr>
          <p:cNvSpPr/>
          <p:nvPr/>
        </p:nvSpPr>
        <p:spPr>
          <a:xfrm>
            <a:off x="328748" y="4271057"/>
            <a:ext cx="9304202" cy="2090056"/>
          </a:xfrm>
          <a:prstGeom prst="roundRect">
            <a:avLst>
              <a:gd name="adj" fmla="val 5690"/>
            </a:avLst>
          </a:prstGeom>
          <a:noFill/>
          <a:ln>
            <a:solidFill>
              <a:srgbClr val="333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792EAA-FB22-B23E-268C-BC6062B2300F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실험 결과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(1) -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학습 성능 분석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(Learning Curve)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B9F2F1-B4AE-40AB-855E-9EC283195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391" y="1630250"/>
            <a:ext cx="3369218" cy="23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0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8ACD9-6435-F7A6-0E78-36D76A83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1C72E0E-BF75-986E-C7EA-0E3F5B47068F}"/>
              </a:ext>
            </a:extLst>
          </p:cNvPr>
          <p:cNvGrpSpPr/>
          <p:nvPr/>
        </p:nvGrpSpPr>
        <p:grpSpPr>
          <a:xfrm>
            <a:off x="317134" y="1036639"/>
            <a:ext cx="5152103" cy="338554"/>
            <a:chOff x="261714" y="1043782"/>
            <a:chExt cx="5152103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F8ED1A1-9B8B-CE34-6837-892B02904133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47A06E-34E9-A798-BC21-C079D6D75618}"/>
                </a:ext>
              </a:extLst>
            </p:cNvPr>
            <p:cNvSpPr txBox="1"/>
            <p:nvPr/>
          </p:nvSpPr>
          <p:spPr>
            <a:xfrm>
              <a:off x="308958" y="1043782"/>
              <a:ext cx="5104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코드 실행 결과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2: 180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일간의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Inventory/Demand/Order 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그래프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E73809B-4456-2BF8-6E59-0B4EA670A1DD}"/>
              </a:ext>
            </a:extLst>
          </p:cNvPr>
          <p:cNvSpPr txBox="1"/>
          <p:nvPr/>
        </p:nvSpPr>
        <p:spPr>
          <a:xfrm>
            <a:off x="452438" y="4320800"/>
            <a:ext cx="87169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[Strategy 1: High Safety Stock (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 재고 확보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)]</a:t>
            </a:r>
          </a:p>
          <a:p>
            <a:pPr lvl="0">
              <a:defRPr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재고를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맞추기보다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평균 수요 대비 넉넉한 재고를 상시 유지함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  <a:b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품절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패널티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(50)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유지비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(0.5)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100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배인 환경에서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품절 리스크를 원천 차단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하려는 전략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>
              <a:defRPr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  <a:b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[Strategy 2: Batch Ordering (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대량 주문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)]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빨간색 그래프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주문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간헐적인 스파이크 형태로 나타남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고정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주문비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(1,000)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절감하기 위해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매일 주문하지 않고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필요한 시점에 몰아서 주문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하는 경제적 판단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[Performance]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b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높은 수요 변동성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(Variability)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에도 불구하고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재고 그래프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파란선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수요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주황선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추세를 안정적으로 방어함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9CE32AB-F073-456B-C9AC-4533CCB03C20}"/>
              </a:ext>
            </a:extLst>
          </p:cNvPr>
          <p:cNvSpPr/>
          <p:nvPr/>
        </p:nvSpPr>
        <p:spPr>
          <a:xfrm>
            <a:off x="328748" y="4271057"/>
            <a:ext cx="9304202" cy="2090056"/>
          </a:xfrm>
          <a:prstGeom prst="roundRect">
            <a:avLst>
              <a:gd name="adj" fmla="val 5690"/>
            </a:avLst>
          </a:prstGeom>
          <a:noFill/>
          <a:ln>
            <a:solidFill>
              <a:srgbClr val="333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26F9D8-9BF5-56BA-1603-9938BE0016BE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실험 결과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(2) -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에이전트 행동 분석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(Behavior Analysis)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2FFE70C-7ABF-9EBC-1218-D11CC2D38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040" y="1599964"/>
            <a:ext cx="5459618" cy="243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56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0A6A-AF8F-33F2-5606-7DCA20EC2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DFEB2A53-691B-2177-7E89-29A6FCDA2491}"/>
              </a:ext>
            </a:extLst>
          </p:cNvPr>
          <p:cNvGrpSpPr/>
          <p:nvPr/>
        </p:nvGrpSpPr>
        <p:grpSpPr>
          <a:xfrm>
            <a:off x="304800" y="905232"/>
            <a:ext cx="9090855" cy="4873129"/>
            <a:chOff x="304800" y="1620838"/>
            <a:chExt cx="9090855" cy="4873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4F57F41-A871-4765-37B2-8E33EC64799C}"/>
                </a:ext>
              </a:extLst>
            </p:cNvPr>
            <p:cNvSpPr txBox="1"/>
            <p:nvPr/>
          </p:nvSpPr>
          <p:spPr>
            <a:xfrm>
              <a:off x="510344" y="1790115"/>
              <a:ext cx="8885311" cy="4703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Research Summary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재고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-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품절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-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주문 비용 간의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트레이드오프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(Trade-off)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를 최적화하는 강화학습 환경 구축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Double DQN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을 통해 고정 주문 비용과 리드타임을 고려한 적응형 정책 학습 성공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학습 곡선 및 행동 패턴 분석을 통해 에이전트의 전략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대량 주문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선제적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대응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해석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endPara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Key Implications (</a:t>
              </a:r>
              <a:r>
                <a:rPr lang="ko-KR" altLang="en-US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시사점</a:t>
              </a: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MDP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설계의 중요성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상태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(State),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행동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(Action),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보상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(Reward)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설계가 알고리즘 자체보다 성능에 더 직접적인 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                              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영향을 미침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학습 안정성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보상 스케일링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(Scaling)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과 정규화가 학습 수렴의 핵심 요인임을 확인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0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가능성 확인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단순화된 환경이지만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RL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이 복잡한 재고 관리 문제의 자동화된 정책 수립 도구로 활용될 가능성 입증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Limitatons</a:t>
              </a: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(</a:t>
              </a:r>
              <a:r>
                <a:rPr lang="ko-KR" altLang="en-US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현실과의 괴리</a:t>
              </a: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단일 품목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(Single Item)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및 단순화된 주문 단가 모델의 한계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이산화된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행동 공간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(Discrete Action)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으로 인한 정밀한 제어 부족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B49591C-9405-43B2-D7EA-DA2E676F3860}"/>
                </a:ext>
              </a:extLst>
            </p:cNvPr>
            <p:cNvSpPr txBox="1"/>
            <p:nvPr/>
          </p:nvSpPr>
          <p:spPr>
            <a:xfrm>
              <a:off x="304800" y="1620838"/>
              <a:ext cx="11493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6639C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sym typeface="Wingdings" panose="05000000000000000000" pitchFamily="2" charset="2"/>
                </a:rPr>
                <a:t> </a:t>
              </a:r>
              <a:endParaRPr lang="ko-KR" altLang="en-US" sz="1600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EE2810-74C2-AA9E-C837-255C81ADA0DF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결론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–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프로젝트 요약 및 시사점</a:t>
            </a:r>
          </a:p>
        </p:txBody>
      </p:sp>
    </p:spTree>
    <p:extLst>
      <p:ext uri="{BB962C8B-B14F-4D97-AF65-F5344CB8AC3E}">
        <p14:creationId xmlns:p14="http://schemas.microsoft.com/office/powerpoint/2010/main" val="1512176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91A2-FD81-1E8F-C3AF-B192AE87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8194D6C1-A013-E473-0DB8-77B3246A8F84}"/>
              </a:ext>
            </a:extLst>
          </p:cNvPr>
          <p:cNvGrpSpPr/>
          <p:nvPr/>
        </p:nvGrpSpPr>
        <p:grpSpPr>
          <a:xfrm>
            <a:off x="407572" y="3822168"/>
            <a:ext cx="9090855" cy="2539157"/>
            <a:chOff x="304800" y="1620838"/>
            <a:chExt cx="9090855" cy="253915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874FC4D-AA41-D019-D289-36721F1F17BE}"/>
                </a:ext>
              </a:extLst>
            </p:cNvPr>
            <p:cNvSpPr txBox="1"/>
            <p:nvPr/>
          </p:nvSpPr>
          <p:spPr>
            <a:xfrm>
              <a:off x="510344" y="1790115"/>
              <a:ext cx="8885311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알고리즘 확장 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(Continuous Control)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DDPG, SAC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등 연속 제어 알고리즘을 도입하여 정밀한 주문량 최적화 시도</a:t>
              </a:r>
              <a:endPara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ko-KR" altLang="en-US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환경 고도화 </a:t>
              </a: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(Multi-item &amp; Pricing)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단일 품목을 넘어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다품목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(Multi-item)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혼적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상황에서의 창고 용량 최적화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유통기한이 있는 신선식품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(Perishable Goods)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시나리오 적용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Real-world Deployment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시뮬레이션 데이터가 아닌 실제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ERP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데이터와 연동하여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Offline RL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기법 적용 검토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0440ACF-ED12-C184-BB72-82B0529E580D}"/>
                </a:ext>
              </a:extLst>
            </p:cNvPr>
            <p:cNvSpPr txBox="1"/>
            <p:nvPr/>
          </p:nvSpPr>
          <p:spPr>
            <a:xfrm>
              <a:off x="304800" y="1620838"/>
              <a:ext cx="11493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6639C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sym typeface="Wingdings" panose="05000000000000000000" pitchFamily="2" charset="2"/>
                </a:rPr>
                <a:t> </a:t>
              </a:r>
              <a:endParaRPr lang="ko-KR" altLang="en-US" sz="1600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01220D-FE1E-D2D3-FC0C-CB63D15577B2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결론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–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향후 과제</a:t>
            </a:r>
          </a:p>
        </p:txBody>
      </p:sp>
      <p:pic>
        <p:nvPicPr>
          <p:cNvPr id="5" name="그림 4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D2DD9E-2F3B-7850-207E-4C4DF268F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450" y="974731"/>
            <a:ext cx="5371100" cy="29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71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A3455E-3061-4EF9-90C7-073CDDA0B1F9}"/>
              </a:ext>
            </a:extLst>
          </p:cNvPr>
          <p:cNvSpPr/>
          <p:nvPr/>
        </p:nvSpPr>
        <p:spPr>
          <a:xfrm>
            <a:off x="0" y="0"/>
            <a:ext cx="9912478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5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A7E164-C380-4CD3-8E3F-B659A08348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6" b="26771"/>
          <a:stretch/>
        </p:blipFill>
        <p:spPr>
          <a:xfrm>
            <a:off x="149754" y="4640826"/>
            <a:ext cx="3603096" cy="22171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70D04E-2ABB-C399-159C-3F6FCA3E9F9E}"/>
              </a:ext>
            </a:extLst>
          </p:cNvPr>
          <p:cNvSpPr txBox="1"/>
          <p:nvPr/>
        </p:nvSpPr>
        <p:spPr>
          <a:xfrm>
            <a:off x="1255125" y="2986542"/>
            <a:ext cx="7395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spc="-70" dirty="0"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3600" spc="-70" dirty="0"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감사합니다🙂</a:t>
            </a:r>
            <a:endParaRPr lang="ko-KR" altLang="en-US" sz="3200" dirty="0">
              <a:solidFill>
                <a:schemeClr val="accent4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079B8C8-48C1-DCA2-9087-BEFDAFF76CAA}"/>
              </a:ext>
            </a:extLst>
          </p:cNvPr>
          <p:cNvCxnSpPr>
            <a:cxnSpLocks/>
          </p:cNvCxnSpPr>
          <p:nvPr/>
        </p:nvCxnSpPr>
        <p:spPr>
          <a:xfrm>
            <a:off x="3582649" y="3644223"/>
            <a:ext cx="2765685" cy="0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51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pub">
      <a:majorFont>
        <a:latin typeface="맑은 고딕"/>
        <a:ea typeface="KoPub돋움체_Pro Bold"/>
        <a:cs typeface=""/>
      </a:majorFont>
      <a:minorFont>
        <a:latin typeface="맑은 고딕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5BB2F68090E6E4BA96695830B7887E7" ma:contentTypeVersion="15" ma:contentTypeDescription="새 문서를 만듭니다." ma:contentTypeScope="" ma:versionID="405ca7ced9d5f27566bd8d4a9e0279da">
  <xsd:schema xmlns:xsd="http://www.w3.org/2001/XMLSchema" xmlns:xs="http://www.w3.org/2001/XMLSchema" xmlns:p="http://schemas.microsoft.com/office/2006/metadata/properties" xmlns:ns2="c5d2d4e3-3807-4a63-b1fd-d13b7a4ed0ed" xmlns:ns3="68be5aea-11e0-4654-aa65-0c9e3cea7a48" targetNamespace="http://schemas.microsoft.com/office/2006/metadata/properties" ma:root="true" ma:fieldsID="5071958b574af4ac133cfd96544a9917" ns2:_="" ns3:_="">
    <xsd:import namespace="c5d2d4e3-3807-4a63-b1fd-d13b7a4ed0ed"/>
    <xsd:import namespace="68be5aea-11e0-4654-aa65-0c9e3cea7a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d2d4e3-3807-4a63-b1fd-d13b7a4ed0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660f5272-308d-4843-a751-1f431fb78a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be5aea-11e0-4654-aa65-0c9e3cea7a4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2053199-877c-4954-b7cc-a57933340257}" ma:internalName="TaxCatchAll" ma:showField="CatchAllData" ma:web="68be5aea-11e0-4654-aa65-0c9e3cea7a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CFA995-AD47-4593-85C1-053DECB673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3CC6D8-9518-46DF-91E1-4C3D83E5F8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d2d4e3-3807-4a63-b1fd-d13b7a4ed0ed"/>
    <ds:schemaRef ds:uri="68be5aea-11e0-4654-aa65-0c9e3cea7a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11626</TotalTime>
  <Words>1804</Words>
  <Application>Microsoft Office PowerPoint</Application>
  <PresentationFormat>A4 용지(210x297mm)</PresentationFormat>
  <Paragraphs>246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8" baseType="lpstr">
      <vt:lpstr>KoPub돋움체_Pro Medium</vt:lpstr>
      <vt:lpstr>G마켓 산스 Bold</vt:lpstr>
      <vt:lpstr>KoPub돋움체 Medium</vt:lpstr>
      <vt:lpstr>KoPub바탕체 Bold</vt:lpstr>
      <vt:lpstr>KoPub바탕체 Medium</vt:lpstr>
      <vt:lpstr>맑은 고딕</vt:lpstr>
      <vt:lpstr>JBold</vt:lpstr>
      <vt:lpstr>KoPub돋움체 Bold</vt:lpstr>
      <vt:lpstr>HY견고딕</vt:lpstr>
      <vt:lpstr>바탕</vt:lpstr>
      <vt:lpstr>Wingdings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nepescorp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Q-Pang Team</dc:creator>
  <cp:lastModifiedBy>유문식 제작기술부</cp:lastModifiedBy>
  <cp:revision>1661</cp:revision>
  <dcterms:created xsi:type="dcterms:W3CDTF">2022-03-10T04:40:22Z</dcterms:created>
  <dcterms:modified xsi:type="dcterms:W3CDTF">2025-12-06T17:24:47Z</dcterms:modified>
</cp:coreProperties>
</file>